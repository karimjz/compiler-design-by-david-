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1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88" r:id="rId35"/>
    <p:sldId id="290" r:id="rId36"/>
    <p:sldId id="292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81" autoAdjust="0"/>
    <p:restoredTop sz="94343" autoAdjust="0"/>
  </p:normalViewPr>
  <p:slideViewPr>
    <p:cSldViewPr snapToGrid="0">
      <p:cViewPr>
        <p:scale>
          <a:sx n="60" d="100"/>
          <a:sy n="60" d="100"/>
        </p:scale>
        <p:origin x="168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284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417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65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02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2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301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0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40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9F721FE-7FF4-4185-8B35-EB266A2CD21C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1B1DC97-141E-4371-90D3-FEA7FCE0A4E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8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711" b="19711"/>
          <a:stretch>
            <a:fillRect/>
          </a:stretch>
        </p:blipFill>
        <p:spPr/>
      </p:pic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1313180" y="5907023"/>
            <a:ext cx="10113264" cy="595378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DEPARTMENT 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OF COMPUTER SCIENCE</a:t>
            </a: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4"/>
          <p:cNvSpPr>
            <a:spLocks noGrp="1"/>
          </p:cNvSpPr>
          <p:nvPr>
            <p:ph type="title"/>
          </p:nvPr>
        </p:nvSpPr>
        <p:spPr>
          <a:xfrm>
            <a:off x="1097280" y="4999569"/>
            <a:ext cx="10113264" cy="8229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lvl="0" algn="ctr" defTabSz="457200">
              <a:lnSpc>
                <a:spcPts val="3208"/>
              </a:lnSpc>
              <a:spcBef>
                <a:spcPts val="0"/>
              </a:spcBef>
            </a:pPr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           BAHIR DAR INSTITUTE OF TECHNOLOGY</a:t>
            </a:r>
            <a:b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</a:br>
            <a:r>
              <a:rPr lang="en-US" sz="3200" b="1" spc="0" dirty="0" smtClean="0">
                <a:solidFill>
                  <a:schemeClr val="tx1"/>
                </a:solidFill>
                <a:latin typeface="Times New Roman" panose="02020603050405020304" pitchFamily="18" charset="0"/>
                <a:ea typeface="Outfit Extra Bold" pitchFamily="34" charset="-122"/>
                <a:cs typeface="Times New Roman" panose="02020603050405020304" pitchFamily="18" charset="0"/>
              </a:rPr>
              <a:t>FACULTY OF COMPUTING</a:t>
            </a:r>
            <a:r>
              <a:rPr lang="en-US" sz="2542" spc="0" dirty="0" smtClean="0">
                <a:solidFill>
                  <a:prstClr val="black"/>
                </a:solidFill>
                <a:latin typeface="Trebuchet MS" panose="020B0603020202020204"/>
                <a:ea typeface="+mn-ea"/>
                <a:cs typeface="+mn-cs"/>
              </a:rPr>
              <a:t/>
            </a:r>
            <a:br>
              <a:rPr lang="en-US" sz="2542" spc="0" dirty="0" smtClean="0">
                <a:solidFill>
                  <a:prstClr val="black"/>
                </a:solidFill>
                <a:latin typeface="Trebuchet MS" panose="020B0603020202020204"/>
                <a:ea typeface="+mn-ea"/>
                <a:cs typeface="+mn-cs"/>
              </a:rPr>
            </a:br>
            <a:endParaRPr lang="en-US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10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320800" y="2440940"/>
            <a:ext cx="9834880" cy="342815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Dawit  Anteneh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BDU1411499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 10/05/2018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43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2"/>
            <a:ext cx="10058400" cy="1427897"/>
          </a:xfrm>
        </p:spPr>
        <p:txBody>
          <a:bodyPr>
            <a:normAutofit/>
          </a:bodyPr>
          <a:lstStyle/>
          <a:p>
            <a:pPr algn="ctr"/>
            <a:r>
              <a:rPr lang="en-US" sz="3600" b="1" spc="0" dirty="0">
                <a:solidFill>
                  <a:srgbClr val="0F11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Compiler Design – Assignment </a:t>
            </a:r>
            <a:r>
              <a:rPr lang="en-US" sz="3600" b="1" spc="0" dirty="0" smtClean="0">
                <a:solidFill>
                  <a:srgbClr val="0F11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3164916"/>
            <a:ext cx="1055007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Left Factoring (Theory)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Removing Spaces &amp; Tabs (C++)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 Tree Construction (Problem Solving)</a:t>
            </a:r>
          </a:p>
        </p:txBody>
      </p:sp>
    </p:spTree>
    <p:extLst>
      <p:ext uri="{BB962C8B-B14F-4D97-AF65-F5344CB8AC3E}">
        <p14:creationId xmlns:p14="http://schemas.microsoft.com/office/powerpoint/2010/main" val="92678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Left Factoring?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Factoring is a grammar transformation technique used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common prefixes from productions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grammar suitable for top-down parsing (LL parser)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factoring rewrites grammar so that parser can decide which rule to use by looking at the next input symbol.</a:t>
            </a:r>
          </a:p>
        </p:txBody>
      </p:sp>
    </p:spTree>
    <p:extLst>
      <p:ext uri="{BB962C8B-B14F-4D97-AF65-F5344CB8AC3E}">
        <p14:creationId xmlns:p14="http://schemas.microsoft.com/office/powerpoint/2010/main" val="127609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43726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of Left Factoring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80115"/>
          </a:xfrm>
        </p:spPr>
        <p:txBody>
          <a:bodyPr>
            <a:normAutofit fontScale="92500" lnSpcReduction="20000"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 |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productions start with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parser cannot decide which rule to choose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After Left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Factoring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→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A' → b | c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common prefix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parser can decide easily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29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Left Factoring Necessary?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factoring is necessary because: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 parsers use one symbol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lookahead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 in prediction causes parsing errors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avoids backtracking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grammar deterministic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078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remove spaces and tabs from an input string.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steps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input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Traverse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by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Ignore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' ' and tab '\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t‘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559538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425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Program (Remove Spaces and Tabs)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1229194"/>
            <a:ext cx="11074400" cy="5261548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&lt;string&gt;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 {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input, result = "";</a:t>
            </a:r>
          </a:p>
          <a:p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"Enter a string: ";</a:t>
            </a:r>
          </a:p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getline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input);</a:t>
            </a:r>
          </a:p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(char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input) {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' ' &amp;&amp;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!= '\t') {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+=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</a:p>
          <a:p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"String without spaces and tabs: " &lt;&lt; result &lt;&lt;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}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7932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Input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Input:</a:t>
            </a: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Output</a:t>
            </a:r>
            <a:r>
              <a:rPr lang="en-US" dirty="0" smtClean="0"/>
              <a:t>: </a:t>
            </a:r>
          </a:p>
          <a:p>
            <a:endParaRPr lang="en-US" dirty="0" smtClean="0"/>
          </a:p>
        </p:txBody>
      </p:sp>
      <p:sp>
        <p:nvSpPr>
          <p:cNvPr id="4" name="Rectangle 3"/>
          <p:cNvSpPr/>
          <p:nvPr/>
        </p:nvSpPr>
        <p:spPr>
          <a:xfrm>
            <a:off x="1783829" y="2248524"/>
            <a:ext cx="5936105" cy="5996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Hello World Compiler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783829" y="3552669"/>
            <a:ext cx="5936105" cy="6445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HelloWorldCompiler</a:t>
            </a:r>
          </a:p>
        </p:txBody>
      </p:sp>
    </p:spTree>
    <p:extLst>
      <p:ext uri="{BB962C8B-B14F-4D97-AF65-F5344CB8AC3E}">
        <p14:creationId xmlns:p14="http://schemas.microsoft.com/office/powerpoint/2010/main" val="141707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ተ"/>
                <a:ea typeface="Times New Roman" panose="02020603050405020304" pitchFamily="18" charset="0"/>
                <a:cs typeface="Times New Roman" panose="02020603050405020304" pitchFamily="18" charset="0"/>
              </a:rPr>
              <a:t>Problem-solving</a:t>
            </a:r>
            <a:endParaRPr lang="en-US" dirty="0">
              <a:latin typeface="ተ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Grammar</a:t>
            </a:r>
            <a:r>
              <a:rPr lang="en-US" dirty="0" smtClean="0"/>
              <a:t>: S </a:t>
            </a:r>
            <a:r>
              <a:rPr lang="en-US" dirty="0"/>
              <a:t>→ a S b S | </a:t>
            </a:r>
            <a:r>
              <a:rPr lang="el-GR" dirty="0" smtClean="0"/>
              <a:t>ε</a:t>
            </a:r>
            <a:endParaRPr lang="en-US" dirty="0" smtClean="0"/>
          </a:p>
          <a:p>
            <a:r>
              <a:rPr lang="en-US" dirty="0"/>
              <a:t>Draw the parse tree for the string </a:t>
            </a:r>
            <a:r>
              <a:rPr lang="en-US" b="1" dirty="0"/>
              <a:t>"</a:t>
            </a:r>
            <a:r>
              <a:rPr lang="en-US" b="1" dirty="0" err="1" smtClean="0"/>
              <a:t>aabb</a:t>
            </a:r>
            <a:r>
              <a:rPr lang="en-US" b="1" dirty="0" smtClean="0"/>
              <a:t>“ </a:t>
            </a:r>
          </a:p>
          <a:p>
            <a:r>
              <a:rPr lang="en-US" dirty="0"/>
              <a:t>Grammar meaning</a:t>
            </a:r>
            <a:r>
              <a:rPr lang="en-US" dirty="0" smtClean="0"/>
              <a:t>:</a:t>
            </a:r>
          </a:p>
          <a:p>
            <a:r>
              <a:rPr lang="en-US" dirty="0" smtClean="0"/>
              <a:t>String </a:t>
            </a:r>
            <a:r>
              <a:rPr lang="en-US" dirty="0"/>
              <a:t>must have equal number of a and </a:t>
            </a:r>
            <a:r>
              <a:rPr lang="en-US" dirty="0" smtClean="0"/>
              <a:t>b</a:t>
            </a:r>
          </a:p>
          <a:p>
            <a:r>
              <a:rPr lang="en-US" dirty="0" smtClean="0"/>
              <a:t>a </a:t>
            </a:r>
            <a:r>
              <a:rPr lang="en-US" dirty="0"/>
              <a:t>comes before </a:t>
            </a:r>
            <a:r>
              <a:rPr lang="en-US" dirty="0" smtClean="0"/>
              <a:t>b</a:t>
            </a:r>
          </a:p>
          <a:p>
            <a:r>
              <a:rPr lang="en-US" dirty="0" smtClean="0"/>
              <a:t>ε </a:t>
            </a:r>
            <a:r>
              <a:rPr lang="en-US" dirty="0"/>
              <a:t>means </a:t>
            </a:r>
            <a:r>
              <a:rPr lang="en-US" dirty="0" smtClean="0"/>
              <a:t>empty string</a:t>
            </a:r>
          </a:p>
          <a:p>
            <a:r>
              <a:rPr lang="en-US" dirty="0" smtClean="0"/>
              <a:t>Valid </a:t>
            </a:r>
            <a:r>
              <a:rPr lang="en-US" dirty="0" err="1" smtClean="0"/>
              <a:t>strings:ε</a:t>
            </a: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b</a:t>
            </a:r>
          </a:p>
          <a:p>
            <a:r>
              <a:rPr lang="en-US" dirty="0" err="1" smtClean="0"/>
              <a:t>abb</a:t>
            </a:r>
            <a:r>
              <a:rPr lang="en-US" dirty="0" smtClean="0"/>
              <a:t>   </a:t>
            </a:r>
            <a:r>
              <a:rPr lang="en-US" dirty="0" err="1" smtClean="0"/>
              <a:t>aaabbb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74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Derivation of "</a:t>
            </a:r>
            <a:r>
              <a:rPr lang="en-US" sz="2800" b="1" dirty="0" err="1"/>
              <a:t>aabb</a:t>
            </a:r>
            <a:r>
              <a:rPr lang="en-US" sz="2800" b="1" dirty="0" smtClean="0"/>
              <a:t>"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389" y="1156186"/>
            <a:ext cx="10058400" cy="5274594"/>
          </a:xfrm>
        </p:spPr>
        <p:txBody>
          <a:bodyPr>
            <a:normAutofit lnSpcReduction="10000"/>
          </a:bodyPr>
          <a:lstStyle/>
          <a:p>
            <a:r>
              <a:rPr lang="en-US" spc="-50" dirty="0">
                <a:solidFill>
                  <a:srgbClr val="000000">
                    <a:lumMod val="75000"/>
                    <a:lumOff val="25000"/>
                  </a:srgbClr>
                </a:solidFill>
                <a:latin typeface="Calibri Light" panose="020F0302020204030204"/>
                <a:ea typeface="+mj-ea"/>
                <a:cs typeface="+mj-cs"/>
              </a:rPr>
              <a:t>Leftmost derivation</a:t>
            </a:r>
            <a:r>
              <a:rPr lang="en-US" spc="-50" dirty="0" smtClean="0">
                <a:solidFill>
                  <a:srgbClr val="000000">
                    <a:lumMod val="75000"/>
                    <a:lumOff val="25000"/>
                  </a:srgbClr>
                </a:solidFill>
                <a:latin typeface="Calibri Light" panose="020F0302020204030204"/>
                <a:ea typeface="+mj-ea"/>
                <a:cs typeface="+mj-cs"/>
              </a:rPr>
              <a:t>:</a:t>
            </a:r>
          </a:p>
          <a:p>
            <a:r>
              <a:rPr lang="en-US" dirty="0"/>
              <a:t>S → a S b S</a:t>
            </a:r>
          </a:p>
          <a:p>
            <a:r>
              <a:rPr lang="en-US" dirty="0"/>
              <a:t>→ a </a:t>
            </a:r>
            <a:r>
              <a:rPr lang="en-US" dirty="0" err="1"/>
              <a:t>a</a:t>
            </a:r>
            <a:r>
              <a:rPr lang="en-US" dirty="0"/>
              <a:t> S b S b S</a:t>
            </a:r>
          </a:p>
          <a:p>
            <a:r>
              <a:rPr lang="en-US" dirty="0"/>
              <a:t>→ a </a:t>
            </a:r>
            <a:r>
              <a:rPr lang="en-US" dirty="0" err="1"/>
              <a:t>a</a:t>
            </a:r>
            <a:r>
              <a:rPr lang="en-US" dirty="0"/>
              <a:t> </a:t>
            </a:r>
            <a:r>
              <a:rPr lang="el-GR" dirty="0"/>
              <a:t>ε </a:t>
            </a:r>
            <a:r>
              <a:rPr lang="en-US" dirty="0"/>
              <a:t>b </a:t>
            </a:r>
            <a:r>
              <a:rPr lang="el-GR" dirty="0"/>
              <a:t>ε </a:t>
            </a:r>
            <a:r>
              <a:rPr lang="en-US" dirty="0"/>
              <a:t>b </a:t>
            </a:r>
            <a:r>
              <a:rPr lang="el-GR" dirty="0"/>
              <a:t>ε</a:t>
            </a:r>
          </a:p>
          <a:p>
            <a:r>
              <a:rPr lang="el-GR" dirty="0"/>
              <a:t>→ </a:t>
            </a:r>
            <a:r>
              <a:rPr lang="en-US" dirty="0" err="1"/>
              <a:t>aabb</a:t>
            </a:r>
            <a:endParaRPr lang="en-US" dirty="0"/>
          </a:p>
          <a:p>
            <a:r>
              <a:rPr lang="en-US" dirty="0"/>
              <a:t>Parse Tree for "</a:t>
            </a:r>
            <a:r>
              <a:rPr lang="en-US" dirty="0" err="1"/>
              <a:t>aabb“S</a:t>
            </a:r>
            <a:endParaRPr lang="en-US" dirty="0"/>
          </a:p>
          <a:p>
            <a:r>
              <a:rPr lang="en-US" dirty="0"/>
              <a:t>/ | \ \</a:t>
            </a:r>
          </a:p>
          <a:p>
            <a:r>
              <a:rPr lang="en-US" dirty="0"/>
              <a:t>a S b S</a:t>
            </a:r>
          </a:p>
          <a:p>
            <a:r>
              <a:rPr lang="en-US" dirty="0"/>
              <a:t>/ | \ \</a:t>
            </a:r>
          </a:p>
          <a:p>
            <a:r>
              <a:rPr lang="en-US" dirty="0"/>
              <a:t>a S b S</a:t>
            </a:r>
          </a:p>
          <a:p>
            <a:r>
              <a:rPr lang="en-US" dirty="0"/>
              <a:t>| |</a:t>
            </a:r>
          </a:p>
          <a:p>
            <a:r>
              <a:rPr lang="el-GR"/>
              <a:t>ε 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94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– Assignment 02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dirty="0" smtClean="0">
              <a:latin typeface="Nyala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dirty="0">
              <a:latin typeface="Nyala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endParaRPr lang="en-US" dirty="0" smtClean="0">
              <a:latin typeface="Nyala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3200" b="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</a:t>
            </a: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the use of symbol tables in lexical analysis?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619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is the first phase of compilation, responsible for scanning source code and converting it into tokens.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 play a crucial role in managing identifiers and other language constructs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 explain what symbol tables </a:t>
            </a:r>
            <a:r>
              <a:rPr lang="en-US" sz="28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are, how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are used in lexical analysis, </a:t>
            </a:r>
            <a:r>
              <a:rPr lang="en-US" sz="28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they are essential for compiler design.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022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What is a Symbol Table?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F1115"/>
                </a:solidFill>
                <a:latin typeface="quote-cjk-patch"/>
              </a:rPr>
              <a:t>A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symbol table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is a data structure used by compilers to store information about identifiers (variables, functions, types, etc.) encountered during lexical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Purpose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: To keep track of names and their attributes (type, scope, memory location,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Key Operations: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Insert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: Add a new identifier.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Lookup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: Retrieve information about an identifier.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Update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: Modify attributes if needed.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Delete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: Remove entries when a scope ends.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786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13" y="286603"/>
            <a:ext cx="11055667" cy="1450757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sz="40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Tables are Used in </a:t>
            </a:r>
            <a:r>
              <a:rPr lang="en-US" sz="40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0012" y="1845734"/>
            <a:ext cx="11055667" cy="4455054"/>
          </a:xfrm>
        </p:spPr>
        <p:txBody>
          <a:bodyPr/>
          <a:lstStyle/>
          <a:p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analysis, symbol tables help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1.Identifier 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When the </a:t>
            </a:r>
            <a:r>
              <a:rPr lang="en-US" sz="24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encounters an identifier (e.g., count), it checks the symbol table to see if 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already exists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not, the identifier is inserted as a new entry.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2.Keyword </a:t>
            </a: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vs. Identifier </a:t>
            </a:r>
            <a:r>
              <a:rPr lang="en-US" sz="24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Distinction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if, while) are preloaded into the symbol table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lexer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tokens against the symbol table to distinguish keywords from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user-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defined identifiers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3.Error Detection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Helps 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duplicate declarations in the same scope (lexical errors).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54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a Symbol 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 Table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Fast lookup and insertion (O(1) average case).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Tree (BST)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Balanced for ordered traversal.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 List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Simple but inefficient for large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n-US" sz="32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Suitable for small, fixed-size tables.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16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0F1115"/>
                </a:solidFill>
                <a:latin typeface="quote-cjk-patch"/>
              </a:rPr>
              <a:t>Example Entry</a:t>
            </a:r>
            <a:r>
              <a:rPr lang="en-US" sz="2400" dirty="0">
                <a:solidFill>
                  <a:srgbClr val="0F1115"/>
                </a:solidFill>
                <a:latin typeface="quote-cjk-patch"/>
              </a:rPr>
              <a:t>:</a:t>
            </a:r>
            <a:endParaRPr lang="en-US" sz="2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661458"/>
              </p:ext>
            </p:extLst>
          </p:nvPr>
        </p:nvGraphicFramePr>
        <p:xfrm>
          <a:off x="1027113" y="3160395"/>
          <a:ext cx="10058400" cy="13944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03180">
                  <a:extLst>
                    <a:ext uri="{9D8B030D-6E8A-4147-A177-3AD203B41FA5}">
                      <a16:colId xmlns:a16="http://schemas.microsoft.com/office/drawing/2014/main" val="3394834009"/>
                    </a:ext>
                  </a:extLst>
                </a:gridCol>
                <a:gridCol w="2088805">
                  <a:extLst>
                    <a:ext uri="{9D8B030D-6E8A-4147-A177-3AD203B41FA5}">
                      <a16:colId xmlns:a16="http://schemas.microsoft.com/office/drawing/2014/main" val="534449604"/>
                    </a:ext>
                  </a:extLst>
                </a:gridCol>
                <a:gridCol w="2088805">
                  <a:extLst>
                    <a:ext uri="{9D8B030D-6E8A-4147-A177-3AD203B41FA5}">
                      <a16:colId xmlns:a16="http://schemas.microsoft.com/office/drawing/2014/main" val="2749895377"/>
                    </a:ext>
                  </a:extLst>
                </a:gridCol>
                <a:gridCol w="2088805">
                  <a:extLst>
                    <a:ext uri="{9D8B030D-6E8A-4147-A177-3AD203B41FA5}">
                      <a16:colId xmlns:a16="http://schemas.microsoft.com/office/drawing/2014/main" val="774259549"/>
                    </a:ext>
                  </a:extLst>
                </a:gridCol>
                <a:gridCol w="2088805">
                  <a:extLst>
                    <a:ext uri="{9D8B030D-6E8A-4147-A177-3AD203B41FA5}">
                      <a16:colId xmlns:a16="http://schemas.microsoft.com/office/drawing/2014/main" val="6428571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Symbol Name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Token Type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Data Type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Scope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Memory Address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323865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count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Identifier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Global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0x1000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84686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main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Keyword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function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Global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0x2000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22555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048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  <a:r>
              <a:rPr lang="en-US" sz="28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US" sz="2800" b="1" dirty="0" err="1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</a:t>
            </a:r>
            <a:r>
              <a:rPr lang="en-US" sz="28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code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540779"/>
          </a:xfrm>
        </p:spPr>
        <p:txBody>
          <a:bodyPr>
            <a:norm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10;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x;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Lexical Analysis Steps</a:t>
            </a:r>
            <a:r>
              <a:rPr lang="en-US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keyword (predefined in symbol table</a:t>
            </a:r>
            <a:r>
              <a:rPr lang="en-US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→ identifier (inserted into symbol table</a:t>
            </a:r>
            <a:r>
              <a:rPr lang="en-US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     </a:t>
            </a:r>
            <a:endParaRPr lang="en-US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→ identifier (inserted with type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→ constant (not stored in symbol table).</a:t>
            </a:r>
            <a:endParaRPr lang="en-US" dirty="0" smtClean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786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Table After </a:t>
            </a:r>
            <a:r>
              <a:rPr lang="en-US" sz="2800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Lexing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437449"/>
              </p:ext>
            </p:extLst>
          </p:nvPr>
        </p:nvGraphicFramePr>
        <p:xfrm>
          <a:off x="2544763" y="3160395"/>
          <a:ext cx="7162800" cy="13944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949483406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3162959707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40534488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Symbol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Type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Scope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595405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main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function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global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31822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x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int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local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01068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8390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Integration with Later Phases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symbol table is passed forward to later phases: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 Analysis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Used to validate identifier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Semantic Analysis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Type checking, scope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Memory allocation and addressing.</a:t>
            </a:r>
          </a:p>
          <a:p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consistency and avoids re-scanning the source.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473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Symbol Tables Matter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Avoids redundant token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Centralized storage for identifier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Handling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Early detection of lexical errors (e.g., duplicate declarations).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  <a:r>
              <a:rPr lang="en-US" sz="28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Essential for subsequent compiler phases (syntax, semantic, code generation).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22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Symbol tables are a core data structure in lexical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 store and manage identifiers, aiding in token recognition and error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symbol table design improves compiler performance and accuracy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224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spc="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Compiler Design – Assignment </a:t>
            </a:r>
            <a:r>
              <a:rPr lang="en-US" sz="3600" b="1" spc="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4400" b="1" dirty="0" smtClean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4400" b="1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 </a:t>
            </a:r>
            <a:r>
              <a:rPr lang="en-US" sz="40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4000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sz="40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 Checking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05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modern languages (Swift, </a:t>
            </a:r>
            <a:r>
              <a:rPr lang="en-US" sz="24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C#, </a:t>
            </a:r>
            <a:r>
              <a:rPr lang="en-US" sz="24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support optional/</a:t>
            </a:r>
            <a:r>
              <a:rPr lang="en-US" sz="24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types to handle the absence of values safely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checks, dereferencing null leads to runtime crashes (e.g., </a:t>
            </a:r>
            <a:r>
              <a:rPr lang="en-US" sz="24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NullPointerException</a:t>
            </a:r>
            <a:r>
              <a:rPr lang="en-US" sz="2400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compile-time checks ensuring </a:t>
            </a:r>
            <a:r>
              <a:rPr lang="en-US" sz="2400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sz="2400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variables are safely accessed before use.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rgbClr val="0F1115"/>
              </a:solidFill>
              <a:latin typeface="quote-cjk-patch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290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are Optional /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Types</a:t>
            </a:r>
            <a:r>
              <a:rPr lang="en-US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Optional Type: A type that can hold either a value or None/null.</a:t>
            </a:r>
          </a:p>
          <a:p>
            <a:pPr marL="0" indent="0">
              <a:buNone/>
            </a:pPr>
            <a:r>
              <a:rPr lang="en-US" dirty="0"/>
              <a:t>Syntax </a:t>
            </a:r>
            <a:r>
              <a:rPr lang="en-US" dirty="0" err="1"/>
              <a:t>Examples:var</a:t>
            </a:r>
            <a:r>
              <a:rPr lang="en-US" dirty="0"/>
              <a:t> name: String? = null      </a:t>
            </a:r>
          </a:p>
          <a:p>
            <a:pPr marL="0" indent="0">
              <a:buNone/>
            </a:pPr>
            <a:r>
              <a:rPr lang="en-US" dirty="0"/>
              <a:t>let age: </a:t>
            </a:r>
            <a:r>
              <a:rPr lang="en-US" dirty="0" err="1"/>
              <a:t>Int</a:t>
            </a:r>
            <a:r>
              <a:rPr lang="en-US" dirty="0"/>
              <a:t>? = nil           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? </a:t>
            </a:r>
            <a:r>
              <a:rPr lang="en-US" dirty="0" smtClean="0"/>
              <a:t>count </a:t>
            </a:r>
            <a:r>
              <a:rPr lang="en-US" dirty="0"/>
              <a:t>= null;            // C</a:t>
            </a:r>
            <a:r>
              <a:rPr lang="en-US" dirty="0" smtClean="0"/>
              <a:t>#</a:t>
            </a:r>
          </a:p>
          <a:p>
            <a:pPr marL="0" indent="0">
              <a:buNone/>
            </a:pPr>
            <a:r>
              <a:rPr lang="en-US" dirty="0"/>
              <a:t>The type system distinguishes between non-</a:t>
            </a:r>
            <a:r>
              <a:rPr lang="en-US" dirty="0" err="1"/>
              <a:t>nullable</a:t>
            </a:r>
            <a:r>
              <a:rPr lang="en-US" dirty="0"/>
              <a:t> (T) and </a:t>
            </a:r>
            <a:r>
              <a:rPr lang="en-US" dirty="0" err="1"/>
              <a:t>nullable</a:t>
            </a:r>
            <a:r>
              <a:rPr lang="en-US" dirty="0"/>
              <a:t> (T?) types.</a:t>
            </a:r>
          </a:p>
        </p:txBody>
      </p:sp>
    </p:spTree>
    <p:extLst>
      <p:ext uri="{BB962C8B-B14F-4D97-AF65-F5344CB8AC3E}">
        <p14:creationId xmlns:p14="http://schemas.microsoft.com/office/powerpoint/2010/main" val="11292735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Check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Types at Compile Time</a:t>
            </a:r>
            <a:r>
              <a:rPr lang="en-US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454093"/>
              </p:ext>
            </p:extLst>
          </p:nvPr>
        </p:nvGraphicFramePr>
        <p:xfrm>
          <a:off x="1285875" y="1928815"/>
          <a:ext cx="9869804" cy="4071935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934902">
                  <a:extLst>
                    <a:ext uri="{9D8B030D-6E8A-4147-A177-3AD203B41FA5}">
                      <a16:colId xmlns:a16="http://schemas.microsoft.com/office/drawing/2014/main" val="2031478568"/>
                    </a:ext>
                  </a:extLst>
                </a:gridCol>
                <a:gridCol w="4934902">
                  <a:extLst>
                    <a:ext uri="{9D8B030D-6E8A-4147-A177-3AD203B41FA5}">
                      <a16:colId xmlns:a16="http://schemas.microsoft.com/office/drawing/2014/main" val="1246086074"/>
                    </a:ext>
                  </a:extLst>
                </a:gridCol>
              </a:tblGrid>
              <a:tr h="88710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Without Checking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With Compile-Time Checking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9910921"/>
                  </a:ext>
                </a:extLst>
              </a:tr>
              <a:tr h="88710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Runtime crashes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Prevents null dereference errors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1185849988"/>
                  </a:ext>
                </a:extLst>
              </a:tr>
              <a:tr h="1410635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Hard to debug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Clear error messages at compile time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490102134"/>
                  </a:ext>
                </a:extLst>
              </a:tr>
              <a:tr h="88710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No guarantees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Program correctness ensured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384550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1187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Semantic Rules for </a:t>
            </a:r>
            <a:r>
              <a:rPr lang="en-US" b="1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Declaration Rule:</a:t>
            </a:r>
          </a:p>
          <a:p>
            <a:r>
              <a:rPr lang="en-US" dirty="0"/>
              <a:t>T? variables may be assigned null or a value of type T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Dereference Rule:</a:t>
            </a:r>
          </a:p>
          <a:p>
            <a:r>
              <a:rPr lang="en-US" dirty="0"/>
              <a:t>A </a:t>
            </a:r>
            <a:r>
              <a:rPr lang="en-US" dirty="0" err="1"/>
              <a:t>nullable</a:t>
            </a:r>
            <a:r>
              <a:rPr lang="en-US" dirty="0"/>
              <a:t> variable must be checked for null before dereferencing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Assignment Rule:</a:t>
            </a:r>
          </a:p>
          <a:p>
            <a:r>
              <a:rPr lang="en-US" dirty="0"/>
              <a:t>Non-</a:t>
            </a:r>
            <a:r>
              <a:rPr lang="en-US" dirty="0" err="1"/>
              <a:t>nullable</a:t>
            </a:r>
            <a:r>
              <a:rPr lang="en-US" dirty="0"/>
              <a:t> variables cannot receive </a:t>
            </a:r>
            <a:r>
              <a:rPr lang="en-US" dirty="0" err="1"/>
              <a:t>nullable</a:t>
            </a:r>
            <a:r>
              <a:rPr lang="en-US" dirty="0"/>
              <a:t> values without explicit check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Propagation Rule:</a:t>
            </a:r>
          </a:p>
          <a:p>
            <a:r>
              <a:rPr lang="en-US" dirty="0"/>
              <a:t>Operations on </a:t>
            </a:r>
            <a:r>
              <a:rPr lang="en-US" dirty="0" err="1"/>
              <a:t>nullable</a:t>
            </a:r>
            <a:r>
              <a:rPr lang="en-US" dirty="0"/>
              <a:t> types produce </a:t>
            </a:r>
            <a:r>
              <a:rPr lang="en-US" dirty="0" err="1"/>
              <a:t>nullable</a:t>
            </a:r>
            <a:r>
              <a:rPr lang="en-US" dirty="0"/>
              <a:t> results unless guarded.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1285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Safe vs. Unsafe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75" y="1845734"/>
            <a:ext cx="11012805" cy="4555066"/>
          </a:xfrm>
        </p:spPr>
        <p:txBody>
          <a:bodyPr>
            <a:normAutofit/>
          </a:bodyPr>
          <a:lstStyle/>
          <a:p>
            <a:r>
              <a:rPr lang="en-US" dirty="0"/>
              <a:t>// UNSAFE</a:t>
            </a:r>
          </a:p>
          <a:p>
            <a:r>
              <a:rPr lang="en-US" dirty="0" err="1"/>
              <a:t>var</a:t>
            </a:r>
            <a:r>
              <a:rPr lang="en-US" dirty="0"/>
              <a:t> </a:t>
            </a:r>
            <a:r>
              <a:rPr lang="en-US" dirty="0" err="1"/>
              <a:t>str</a:t>
            </a:r>
            <a:r>
              <a:rPr lang="en-US" dirty="0"/>
              <a:t>: String? = null</a:t>
            </a:r>
          </a:p>
          <a:p>
            <a:r>
              <a:rPr lang="en-US" dirty="0" err="1"/>
              <a:t>println</a:t>
            </a:r>
            <a:r>
              <a:rPr lang="en-US" dirty="0"/>
              <a:t>(</a:t>
            </a:r>
            <a:r>
              <a:rPr lang="en-US" dirty="0" err="1"/>
              <a:t>str.length</a:t>
            </a:r>
            <a:r>
              <a:rPr lang="en-US" dirty="0"/>
              <a:t>)  // Compile ERROR: </a:t>
            </a:r>
            <a:r>
              <a:rPr lang="en-US" dirty="0" err="1"/>
              <a:t>str</a:t>
            </a:r>
            <a:r>
              <a:rPr lang="en-US" dirty="0"/>
              <a:t> may be </a:t>
            </a:r>
            <a:r>
              <a:rPr lang="en-US" dirty="0" smtClean="0"/>
              <a:t>null</a:t>
            </a:r>
            <a:endParaRPr lang="en-US" dirty="0"/>
          </a:p>
          <a:p>
            <a:r>
              <a:rPr lang="en-US" dirty="0"/>
              <a:t>// SAFE</a:t>
            </a:r>
          </a:p>
          <a:p>
            <a:r>
              <a:rPr lang="en-US" dirty="0"/>
              <a:t>if (</a:t>
            </a:r>
            <a:r>
              <a:rPr lang="en-US" dirty="0" err="1"/>
              <a:t>str</a:t>
            </a:r>
            <a:r>
              <a:rPr lang="en-US" dirty="0"/>
              <a:t> != null) {</a:t>
            </a:r>
          </a:p>
          <a:p>
            <a:r>
              <a:rPr lang="en-US" dirty="0"/>
              <a:t>    </a:t>
            </a:r>
            <a:r>
              <a:rPr lang="en-US" dirty="0" err="1"/>
              <a:t>println</a:t>
            </a:r>
            <a:r>
              <a:rPr lang="en-US" dirty="0"/>
              <a:t>(</a:t>
            </a:r>
            <a:r>
              <a:rPr lang="en-US" dirty="0" err="1"/>
              <a:t>str.length</a:t>
            </a:r>
            <a:r>
              <a:rPr lang="en-US" dirty="0"/>
              <a:t>)  // OK: guarded access</a:t>
            </a:r>
          </a:p>
          <a:p>
            <a:r>
              <a:rPr lang="en-US" dirty="0" smtClean="0"/>
              <a:t>}</a:t>
            </a:r>
            <a:endParaRPr lang="en-US" dirty="0"/>
          </a:p>
          <a:p>
            <a:r>
              <a:rPr lang="en-US" dirty="0"/>
              <a:t>// SAFE (with safe-call operator)</a:t>
            </a:r>
          </a:p>
          <a:p>
            <a:r>
              <a:rPr lang="en-US" dirty="0" err="1"/>
              <a:t>println</a:t>
            </a:r>
            <a:r>
              <a:rPr lang="en-US" dirty="0"/>
              <a:t>(</a:t>
            </a:r>
            <a:r>
              <a:rPr lang="en-US" dirty="0" err="1"/>
              <a:t>str</a:t>
            </a:r>
            <a:r>
              <a:rPr lang="en-US" dirty="0"/>
              <a:t>?.length)     // OK: returns null if </a:t>
            </a:r>
            <a:r>
              <a:rPr lang="en-US" dirty="0" err="1"/>
              <a:t>str</a:t>
            </a:r>
            <a:r>
              <a:rPr lang="en-US" dirty="0"/>
              <a:t> is null</a:t>
            </a:r>
          </a:p>
        </p:txBody>
      </p:sp>
    </p:spTree>
    <p:extLst>
      <p:ext uri="{BB962C8B-B14F-4D97-AF65-F5344CB8AC3E}">
        <p14:creationId xmlns:p14="http://schemas.microsoft.com/office/powerpoint/2010/main" val="15908281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the Compiler: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Annotation: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Mark types as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nullable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the AST.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Analysis: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Track </a:t>
            </a:r>
            <a:r>
              <a:rPr lang="en-US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nullability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along control flow paths.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Validation: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Before dereference, ensure non-null.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Reporting:</a:t>
            </a:r>
            <a:r>
              <a:rPr lang="en-US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Highlight unsafe usages with suggestions.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Table: Stores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isNullable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flag per variable.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Graph: For path-sensitive null checks.</a:t>
            </a:r>
          </a:p>
        </p:txBody>
      </p:sp>
    </p:spTree>
    <p:extLst>
      <p:ext uri="{BB962C8B-B14F-4D97-AF65-F5344CB8AC3E}">
        <p14:creationId xmlns:p14="http://schemas.microsoft.com/office/powerpoint/2010/main" val="2137482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0F1115"/>
                </a:solidFill>
                <a:latin typeface="quote-cjk-patch"/>
              </a:rPr>
              <a:t>Nullability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 Analysis – Data Flow</a:t>
            </a:r>
            <a:br>
              <a:rPr lang="en-US" b="1" dirty="0">
                <a:solidFill>
                  <a:srgbClr val="0F1115"/>
                </a:solidFill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1" y="1845734"/>
            <a:ext cx="1098423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Lattice: {</a:t>
            </a:r>
            <a:r>
              <a:rPr lang="en-US" dirty="0" err="1"/>
              <a:t>NotNull</a:t>
            </a:r>
            <a:r>
              <a:rPr lang="en-US" dirty="0"/>
              <a:t>, </a:t>
            </a:r>
            <a:r>
              <a:rPr lang="en-US" dirty="0" err="1"/>
              <a:t>MaybeNull</a:t>
            </a:r>
            <a:r>
              <a:rPr lang="en-US" dirty="0"/>
              <a:t>, Null</a:t>
            </a: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Transfer Functions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x = null → x = </a:t>
            </a:r>
            <a:r>
              <a:rPr lang="en-US" dirty="0" smtClean="0"/>
              <a:t>Null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x = </a:t>
            </a:r>
            <a:r>
              <a:rPr lang="en-US" dirty="0" err="1"/>
              <a:t>nonNullExpr</a:t>
            </a:r>
            <a:r>
              <a:rPr lang="en-US" dirty="0"/>
              <a:t> → x = </a:t>
            </a:r>
            <a:r>
              <a:rPr lang="en-US" dirty="0" err="1" smtClean="0"/>
              <a:t>NotNull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After guard if (x != null) → x = </a:t>
            </a:r>
            <a:r>
              <a:rPr lang="en-US" dirty="0" err="1"/>
              <a:t>NotNull</a:t>
            </a:r>
            <a:r>
              <a:rPr lang="en-US" dirty="0"/>
              <a:t> in true </a:t>
            </a:r>
            <a:r>
              <a:rPr lang="en-US" dirty="0" smtClean="0"/>
              <a:t>branch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Meet Operator:</a:t>
            </a:r>
          </a:p>
          <a:p>
            <a:pPr marL="0" indent="0">
              <a:buNone/>
            </a:pPr>
            <a:r>
              <a:rPr lang="en-US" dirty="0"/>
              <a:t>At merge points (e.g., after if-else), use </a:t>
            </a:r>
            <a:r>
              <a:rPr lang="en-US" dirty="0" err="1"/>
              <a:t>MaybeNull</a:t>
            </a:r>
            <a:r>
              <a:rPr lang="en-US" dirty="0"/>
              <a:t> if branches disagree.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8698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Detecting Unsafe </a:t>
            </a:r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Usages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888" y="1845734"/>
            <a:ext cx="10912792" cy="4023360"/>
          </a:xfrm>
        </p:spPr>
        <p:txBody>
          <a:bodyPr/>
          <a:lstStyle/>
          <a:p>
            <a:r>
              <a:rPr lang="en-US" dirty="0"/>
              <a:t>Common Unsafe Patterns:</a:t>
            </a:r>
          </a:p>
          <a:p>
            <a:r>
              <a:rPr lang="en-US" dirty="0"/>
              <a:t>Direct Dereference: </a:t>
            </a:r>
            <a:r>
              <a:rPr lang="en-US" dirty="0" err="1"/>
              <a:t>x.length</a:t>
            </a:r>
            <a:r>
              <a:rPr lang="en-US" dirty="0"/>
              <a:t> where x: T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dirty="0"/>
              <a:t>Unchecked Assignment: y: T = x where x: T</a:t>
            </a:r>
            <a:r>
              <a:rPr lang="en-US" dirty="0" smtClean="0"/>
              <a:t>?</a:t>
            </a:r>
            <a:endParaRPr lang="en-US" dirty="0"/>
          </a:p>
          <a:p>
            <a:r>
              <a:rPr lang="en-US" dirty="0"/>
              <a:t>Null Propagation Ignored: </a:t>
            </a:r>
            <a:r>
              <a:rPr lang="en-US" dirty="0" err="1"/>
              <a:t>x.method</a:t>
            </a:r>
            <a:r>
              <a:rPr lang="en-US" dirty="0"/>
              <a:t>() without </a:t>
            </a:r>
            <a:r>
              <a:rPr lang="en-US" dirty="0" smtClean="0"/>
              <a:t>guard</a:t>
            </a:r>
          </a:p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Compiler Response:</a:t>
            </a:r>
          </a:p>
          <a:p>
            <a:r>
              <a:rPr lang="en-US" dirty="0"/>
              <a:t>Error: Variable 'x' may be null at this point.</a:t>
            </a:r>
          </a:p>
          <a:p>
            <a:r>
              <a:rPr lang="en-US" dirty="0"/>
              <a:t>Suggestion: Use '</a:t>
            </a:r>
            <a:r>
              <a:rPr lang="en-US" dirty="0" err="1"/>
              <a:t>x?.method</a:t>
            </a:r>
            <a:r>
              <a:rPr lang="en-US" dirty="0"/>
              <a:t>()' or check 'x != null'.</a:t>
            </a:r>
          </a:p>
        </p:txBody>
      </p:sp>
    </p:spTree>
    <p:extLst>
      <p:ext uri="{BB962C8B-B14F-4D97-AF65-F5344CB8AC3E}">
        <p14:creationId xmlns:p14="http://schemas.microsoft.com/office/powerpoint/2010/main" val="5513161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Advanced </a:t>
            </a:r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Smart Casts:</a:t>
            </a:r>
          </a:p>
          <a:p>
            <a:r>
              <a:rPr lang="en-US" dirty="0"/>
              <a:t>After a null check, the compiler automatically treats the variable as non-</a:t>
            </a:r>
            <a:r>
              <a:rPr lang="en-US" dirty="0" err="1"/>
              <a:t>nullable</a:t>
            </a:r>
            <a:r>
              <a:rPr lang="en-US" dirty="0"/>
              <a:t> in that scope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Elvis </a:t>
            </a:r>
            <a:r>
              <a:rPr lang="en-US" dirty="0" smtClean="0"/>
              <a:t>Operator</a:t>
            </a:r>
            <a:r>
              <a:rPr lang="en-US" dirty="0"/>
              <a:t>: ?: provides default values</a:t>
            </a:r>
            <a:r>
              <a:rPr lang="en-US" dirty="0" smtClean="0"/>
              <a:t>:</a:t>
            </a:r>
          </a:p>
          <a:p>
            <a:r>
              <a:rPr lang="nn-NO" dirty="0"/>
              <a:t>val len </a:t>
            </a:r>
            <a:r>
              <a:rPr lang="nn-NO" dirty="0" smtClean="0"/>
              <a:t>= </a:t>
            </a:r>
            <a:r>
              <a:rPr lang="nn-NO" dirty="0"/>
              <a:t>str?.length ?: </a:t>
            </a:r>
            <a:r>
              <a:rPr lang="nn-NO" dirty="0" smtClean="0"/>
              <a:t>0</a:t>
            </a:r>
          </a:p>
          <a:p>
            <a:r>
              <a:rPr lang="en-US" dirty="0"/>
              <a:t>Non-null Assertion: !! (unsafe, but allowed with developer responsibility).</a:t>
            </a:r>
          </a:p>
        </p:txBody>
      </p:sp>
    </p:spTree>
    <p:extLst>
      <p:ext uri="{BB962C8B-B14F-4D97-AF65-F5344CB8AC3E}">
        <p14:creationId xmlns:p14="http://schemas.microsoft.com/office/powerpoint/2010/main" val="12964852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Challenges &amp; Edge </a:t>
            </a:r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Cases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initialization</a:t>
            </a:r>
            <a:r>
              <a:rPr lang="en-US" b="1" dirty="0"/>
              <a:t>:</a:t>
            </a:r>
          </a:p>
          <a:p>
            <a:r>
              <a:rPr lang="en-US" dirty="0"/>
              <a:t>Final variables must be initialized before use (even if </a:t>
            </a:r>
            <a:r>
              <a:rPr lang="en-US" dirty="0" err="1"/>
              <a:t>nullable</a:t>
            </a:r>
            <a:r>
              <a:rPr lang="en-US" dirty="0" smtClean="0"/>
              <a:t>).</a:t>
            </a:r>
            <a:endParaRPr lang="en-US" dirty="0"/>
          </a:p>
          <a:p>
            <a:r>
              <a:rPr lang="en-US" b="1" dirty="0"/>
              <a:t>Late Initialization:</a:t>
            </a:r>
          </a:p>
          <a:p>
            <a:r>
              <a:rPr lang="en-US" dirty="0"/>
              <a:t>Languages like </a:t>
            </a:r>
            <a:r>
              <a:rPr lang="en-US" dirty="0" err="1"/>
              <a:t>Kotlin</a:t>
            </a:r>
            <a:r>
              <a:rPr lang="en-US" dirty="0"/>
              <a:t> support </a:t>
            </a:r>
            <a:r>
              <a:rPr lang="en-US" dirty="0" err="1"/>
              <a:t>lateinit</a:t>
            </a:r>
            <a:r>
              <a:rPr lang="en-US" dirty="0"/>
              <a:t> for non-</a:t>
            </a:r>
            <a:r>
              <a:rPr lang="en-US" dirty="0" err="1"/>
              <a:t>nullables</a:t>
            </a:r>
            <a:r>
              <a:rPr lang="en-US" dirty="0"/>
              <a:t> initialized later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Interoperability with Java:</a:t>
            </a:r>
          </a:p>
          <a:p>
            <a:r>
              <a:rPr lang="en-US" dirty="0"/>
              <a:t>Java types are treated as platform types (T!), requiring careful handling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Generics with </a:t>
            </a:r>
            <a:r>
              <a:rPr lang="en-US" b="1" dirty="0" err="1"/>
              <a:t>Nullability</a:t>
            </a:r>
            <a:r>
              <a:rPr lang="en-US" b="1" dirty="0"/>
              <a:t>:</a:t>
            </a:r>
          </a:p>
          <a:p>
            <a:r>
              <a:rPr lang="en-US" dirty="0"/>
              <a:t>List&lt;String?&gt; vs List&lt;String&gt;? vs List&lt;String?&gt;?</a:t>
            </a:r>
          </a:p>
        </p:txBody>
      </p:sp>
    </p:spTree>
    <p:extLst>
      <p:ext uri="{BB962C8B-B14F-4D97-AF65-F5344CB8AC3E}">
        <p14:creationId xmlns:p14="http://schemas.microsoft.com/office/powerpoint/2010/main" val="2524023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Benefits of Compile-Time Null </a:t>
            </a:r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Checking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45734"/>
            <a:ext cx="11155680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 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Eliminates </a:t>
            </a:r>
            <a:r>
              <a:rPr lang="en-US" dirty="0" err="1" smtClean="0">
                <a:solidFill>
                  <a:srgbClr val="0F1115"/>
                </a:solidFill>
                <a:latin typeface="quote-cjk-patch"/>
              </a:rPr>
              <a:t>NullPointer</a:t>
            </a:r>
            <a:r>
              <a:rPr lang="en-US" dirty="0" smtClean="0">
                <a:solidFill>
                  <a:srgbClr val="0F1115"/>
                </a:solidFill>
                <a:latin typeface="quote-cjk-patch"/>
              </a:rPr>
              <a:t> Exceptions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at runtime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 Clearer code intent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 Better tooling support (IDE hints, refactoring)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 Improved program reliability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 Earlier bug detection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b="1" dirty="0">
              <a:solidFill>
                <a:srgbClr val="0F1115"/>
              </a:solidFill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20608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Optional/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nullable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type checking is a powerful compile-time safety feature.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It requires type system extensions, flow analysis, and strict dereference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Implementation reduces runtime crashes and improves code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Modern languages increasingly adopt this as a default safety mechanism.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1379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058779" y="1876927"/>
            <a:ext cx="10234863" cy="232610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smtClean="0">
                <a:solidFill>
                  <a:srgbClr val="0F1115"/>
                </a:solidFill>
                <a:latin typeface="quote-cjk-patch"/>
              </a:rPr>
              <a:t>If you have Questions</a:t>
            </a:r>
            <a:r>
              <a:rPr lang="en-US" sz="3200" b="1" dirty="0">
                <a:solidFill>
                  <a:srgbClr val="0F1115"/>
                </a:solidFill>
                <a:latin typeface="quote-cjk-patch"/>
              </a:rPr>
              <a:t>?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>
                <a:solidFill>
                  <a:srgbClr val="0F1115"/>
                </a:solidFill>
                <a:latin typeface="quote-cjk-patch"/>
              </a:rPr>
              <a:t>Contact: </a:t>
            </a:r>
            <a:r>
              <a:rPr lang="en-US" sz="3200" dirty="0" smtClean="0">
                <a:solidFill>
                  <a:srgbClr val="0F1115"/>
                </a:solidFill>
                <a:latin typeface="quote-cjk-patch"/>
              </a:rPr>
              <a:t>[alemudawit369@gmail.com]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>
                <a:solidFill>
                  <a:srgbClr val="0F1115"/>
                </a:solidFill>
                <a:latin typeface="quote-cjk-patch"/>
              </a:rPr>
              <a:t>GitHub Repository</a:t>
            </a:r>
            <a:r>
              <a:rPr lang="en-US" sz="3200" dirty="0">
                <a:solidFill>
                  <a:srgbClr val="0F1115"/>
                </a:solidFill>
                <a:latin typeface="quote-cjk-patch"/>
              </a:rPr>
              <a:t>: </a:t>
            </a:r>
            <a:r>
              <a:rPr lang="en-US" sz="2400" u="sng" dirty="0">
                <a:solidFill>
                  <a:srgbClr val="0070C0"/>
                </a:solidFill>
                <a:latin typeface="quote-cjk-patch"/>
              </a:rPr>
              <a:t>[https://</a:t>
            </a:r>
            <a:r>
              <a:rPr lang="en-US" sz="2400" u="sng" dirty="0" smtClean="0">
                <a:solidFill>
                  <a:srgbClr val="0070C0"/>
                </a:solidFill>
                <a:latin typeface="quote-cjk-patch"/>
              </a:rPr>
              <a:t>github.com/alemudawit369-mercuryKingdom/Compiler-Design-by-David-]</a:t>
            </a:r>
            <a:endParaRPr lang="en-US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8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8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0277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4516</TotalTime>
  <Words>1323</Words>
  <Application>Microsoft Office PowerPoint</Application>
  <PresentationFormat>Widescreen</PresentationFormat>
  <Paragraphs>262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Calibri</vt:lpstr>
      <vt:lpstr>Calibri Light</vt:lpstr>
      <vt:lpstr>Nyala</vt:lpstr>
      <vt:lpstr>Outfit Extra Bold</vt:lpstr>
      <vt:lpstr>quote-cjk-patch</vt:lpstr>
      <vt:lpstr>Times New Roman</vt:lpstr>
      <vt:lpstr>Trebuchet MS</vt:lpstr>
      <vt:lpstr>ተ</vt:lpstr>
      <vt:lpstr>Retrospect</vt:lpstr>
      <vt:lpstr>           BAHIR DAR INSTITUTE OF TECHNOLOGY FACULTY OF COMPUTING </vt:lpstr>
      <vt:lpstr>Compiler Design</vt:lpstr>
      <vt:lpstr>Compiler Design – Assignment 01</vt:lpstr>
      <vt:lpstr>What is Left Factoring?</vt:lpstr>
      <vt:lpstr>Example of Left Factoring</vt:lpstr>
      <vt:lpstr>Why is Left Factoring Necessary?</vt:lpstr>
      <vt:lpstr>Write a C++ program to remove spaces and tabs from an input string.</vt:lpstr>
      <vt:lpstr>C++ Program (Remove Spaces and Tabs)</vt:lpstr>
      <vt:lpstr>Sample Input and Output</vt:lpstr>
      <vt:lpstr>Problem-solving</vt:lpstr>
      <vt:lpstr>Derivation of "aabb" </vt:lpstr>
      <vt:lpstr>Compiler Design – Assignment 02</vt:lpstr>
      <vt:lpstr>Introduction</vt:lpstr>
      <vt:lpstr>What is a Symbol Table?</vt:lpstr>
      <vt:lpstr>How Symbol Tables are Used in Lexical Analysis</vt:lpstr>
      <vt:lpstr>Structure of a Symbol Table</vt:lpstr>
      <vt:lpstr>Example Entry:</vt:lpstr>
      <vt:lpstr>Example 2: c++ code </vt:lpstr>
      <vt:lpstr>Symbol Table After Lexing:</vt:lpstr>
      <vt:lpstr>Integration with Later Phases</vt:lpstr>
      <vt:lpstr>Why Symbol Tables Matter</vt:lpstr>
      <vt:lpstr>Conclusion</vt:lpstr>
      <vt:lpstr>Compiler Design – Assignment 03</vt:lpstr>
      <vt:lpstr>Introduction</vt:lpstr>
      <vt:lpstr>What are Optional / Nullable Types?</vt:lpstr>
      <vt:lpstr>Why Check Nullable Types at Compile Time?</vt:lpstr>
      <vt:lpstr>Core Semantic Rules for Nullable Types</vt:lpstr>
      <vt:lpstr>Example: Safe vs. Unsafe Code</vt:lpstr>
      <vt:lpstr>Implementation Approach</vt:lpstr>
      <vt:lpstr>Nullability Analysis – Data Flow </vt:lpstr>
      <vt:lpstr>Detecting Unsafe Usages</vt:lpstr>
      <vt:lpstr>Advanced Features</vt:lpstr>
      <vt:lpstr>Challenges &amp; Edge Cases</vt:lpstr>
      <vt:lpstr>Benefits of Compile-Time Null Checking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Dawit</dc:creator>
  <cp:lastModifiedBy>Dawit</cp:lastModifiedBy>
  <cp:revision>23</cp:revision>
  <dcterms:created xsi:type="dcterms:W3CDTF">2026-01-15T20:09:04Z</dcterms:created>
  <dcterms:modified xsi:type="dcterms:W3CDTF">2026-01-21T19:34:04Z</dcterms:modified>
</cp:coreProperties>
</file>